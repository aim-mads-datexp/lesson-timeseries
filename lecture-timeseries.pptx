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3">
          <p15:clr>
            <a:srgbClr val="A4A3A4"/>
          </p15:clr>
        </p15:guide>
        <p15:guide id="2" orient="horz" pos="1503">
          <p15:clr>
            <a:srgbClr val="A4A3A4"/>
          </p15:clr>
        </p15:guide>
        <p15:guide id="3" orient="horz" pos="3863">
          <p15:clr>
            <a:srgbClr val="A4A3A4"/>
          </p15:clr>
        </p15:guide>
        <p15:guide id="4" orient="horz" pos="1009">
          <p15:clr>
            <a:srgbClr val="A4A3A4"/>
          </p15:clr>
        </p15:guide>
        <p15:guide id="5" pos="5599">
          <p15:clr>
            <a:srgbClr val="A4A3A4"/>
          </p15:clr>
        </p15:guide>
        <p15:guide id="6" pos="1818">
          <p15:clr>
            <a:srgbClr val="A4A3A4"/>
          </p15:clr>
        </p15:guide>
        <p15:guide id="7" pos="153">
          <p15:clr>
            <a:srgbClr val="A4A3A4"/>
          </p15:clr>
        </p15:guide>
        <p15:guide id="8" pos="16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8657"/>
    <a:srgbClr val="A9976A"/>
    <a:srgbClr val="837752"/>
    <a:srgbClr val="AC9660"/>
    <a:srgbClr val="FFE411"/>
    <a:srgbClr val="FFFFFF"/>
    <a:srgbClr val="FED91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3" autoAdjust="0"/>
    <p:restoredTop sz="94701" autoAdjust="0"/>
  </p:normalViewPr>
  <p:slideViewPr>
    <p:cSldViewPr snapToGrid="0" snapToObjects="1">
      <p:cViewPr varScale="1">
        <p:scale>
          <a:sx n="159" d="100"/>
          <a:sy n="159" d="100"/>
        </p:scale>
        <p:origin x="1456" y="192"/>
      </p:cViewPr>
      <p:guideLst>
        <p:guide orient="horz" pos="4003"/>
        <p:guide orient="horz" pos="1503"/>
        <p:guide orient="horz" pos="3863"/>
        <p:guide orient="horz" pos="1009"/>
        <p:guide pos="5599"/>
        <p:guide pos="1818"/>
        <p:guide pos="153"/>
        <p:guide pos="16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7098F-87C7-3046-B8E1-0317C0D8D9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41DC2-B95D-474E-A103-7B49B85400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5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074A2-D88D-8F43-B619-246CA3905610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542CC-6F26-A34B-8E15-4341DD4E0F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998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07" y="1624877"/>
            <a:ext cx="3997787" cy="2545109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926" y="5095875"/>
            <a:ext cx="7839075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 Medium"/>
                <a:cs typeface="Avenir Next Condensed Medium"/>
                <a:sym typeface="Avenir Next Condensed Medium"/>
              </a:defRPr>
            </a:lvl1pPr>
          </a:lstStyle>
          <a:p>
            <a:pPr lvl="0"/>
            <a:r>
              <a:rPr lang="nl-NL" dirty="0"/>
              <a:t>VOORBEELD VAN EEN ONDERTITEL</a:t>
            </a:r>
            <a:endParaRPr lang="en-GB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9925" y="1196299"/>
            <a:ext cx="7844102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baseline="0" dirty="0" smtClean="0">
                <a:solidFill>
                  <a:srgbClr val="E50856"/>
                </a:solidFill>
                <a:latin typeface="Avenir Next Condensed"/>
                <a:ea typeface="Avenir Next Condensed Demi Bold"/>
                <a:cs typeface="Avenir Next Condensed Demi Bold"/>
                <a:sym typeface="Avenir Next Condensed Demi Bold"/>
              </a:defRPr>
            </a:lvl1pPr>
          </a:lstStyle>
          <a:p>
            <a:pPr lvl="0"/>
            <a:r>
              <a:rPr lang="nl-NL" dirty="0"/>
              <a:t>NAAM OPLEIDING/FACULTEIT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895907"/>
            <a:ext cx="7839075" cy="3089275"/>
          </a:xfrm>
        </p:spPr>
        <p:txBody>
          <a:bodyPr>
            <a:normAutofit/>
          </a:bodyPr>
          <a:lstStyle>
            <a:lvl1pPr marL="0" indent="0">
              <a:buNone/>
              <a:defRPr sz="6750" b="1">
                <a:latin typeface="Avenir Next Condensed" panose="020B0506020202020204" pitchFamily="34" charset="0"/>
              </a:defRPr>
            </a:lvl1pPr>
          </a:lstStyle>
          <a:p>
            <a:r>
              <a:rPr lang="nl-NL" dirty="0"/>
              <a:t>VOORBEELD VAN EEN TITEL_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991A77-E592-4927-BAD8-5D3406246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788670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04E48767-DBA0-4144-B07A-E0457FACA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14902" y="1917701"/>
            <a:ext cx="3600450" cy="4259263"/>
          </a:xfrm>
        </p:spPr>
        <p:txBody>
          <a:bodyPr>
            <a:normAutofit/>
          </a:bodyPr>
          <a:lstStyle>
            <a:lvl1pPr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F1329CB-FA5D-45B5-AA42-AC585215A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CE54818A-2359-4656-8BAE-BA7A617F31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750B259D-85C8-43A7-A164-0E5FF89B8B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2362200" y="733425"/>
            <a:ext cx="44196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2" y="601590"/>
            <a:ext cx="355939" cy="297299"/>
          </a:xfrm>
          <a:prstGeom prst="rect">
            <a:avLst/>
          </a:prstGeom>
        </p:spPr>
      </p:pic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0162" y="5429601"/>
            <a:ext cx="3683000" cy="49371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162" y="1628775"/>
            <a:ext cx="3683000" cy="36004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07" y="6227764"/>
            <a:ext cx="1359194" cy="5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0" kern="1200" baseline="0" dirty="0">
          <a:solidFill>
            <a:srgbClr val="E50056"/>
          </a:solidFill>
          <a:latin typeface="Avenir Next Condensed" panose="020B05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28585" indent="-128585" algn="l" defTabSz="514337" rtl="0" eaLnBrk="1" latinLnBrk="0" hangingPunct="1">
        <a:lnSpc>
          <a:spcPct val="8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53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21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090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59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/>
              <a:t>TIME _SERIES</a:t>
            </a:r>
          </a:p>
        </p:txBody>
      </p:sp>
    </p:spTree>
    <p:extLst>
      <p:ext uri="{BB962C8B-B14F-4D97-AF65-F5344CB8AC3E}">
        <p14:creationId xmlns:p14="http://schemas.microsoft.com/office/powerpoint/2010/main" val="214871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4"/>
    </mc:Choice>
    <mc:Fallback xmlns="">
      <p:transition spd="slow" advTm="86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Lecture</a:t>
            </a:r>
            <a:r>
              <a:rPr lang="nl-NL" dirty="0"/>
              <a:t> </a:t>
            </a:r>
            <a:r>
              <a:rPr lang="nl-NL" dirty="0" err="1"/>
              <a:t>overview</a:t>
            </a:r>
            <a:endParaRPr lang="nl-NL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Lesson</a:t>
            </a:r>
            <a:r>
              <a:rPr lang="nl-NL" b="1" dirty="0"/>
              <a:t> goals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Preparation</a:t>
            </a:r>
            <a:r>
              <a:rPr lang="nl-NL" b="1" dirty="0"/>
              <a:t> </a:t>
            </a:r>
            <a:r>
              <a:rPr lang="nl-NL" b="1" dirty="0" err="1"/>
              <a:t>recap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Time series </a:t>
            </a:r>
            <a:r>
              <a:rPr lang="nl-NL" b="1" dirty="0" err="1"/>
              <a:t>overview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Naive</a:t>
            </a:r>
            <a:r>
              <a:rPr lang="nl-NL" b="1" dirty="0"/>
              <a:t> </a:t>
            </a:r>
            <a:r>
              <a:rPr lang="nl-NL" b="1" dirty="0" err="1"/>
              <a:t>forecasting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ARMA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Seasonality</a:t>
            </a:r>
            <a:r>
              <a:rPr lang="nl-NL" b="1" dirty="0"/>
              <a:t> </a:t>
            </a:r>
            <a:r>
              <a:rPr lang="nl-NL" b="1" dirty="0" err="1"/>
              <a:t>and</a:t>
            </a:r>
            <a:r>
              <a:rPr lang="nl-NL" b="1" dirty="0"/>
              <a:t> </a:t>
            </a:r>
            <a:r>
              <a:rPr lang="nl-NL" b="1" dirty="0" err="1"/>
              <a:t>differencing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Measuring</a:t>
            </a:r>
            <a:r>
              <a:rPr lang="nl-NL" b="1" dirty="0"/>
              <a:t> performance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Using </a:t>
            </a:r>
            <a:r>
              <a:rPr lang="nl-NL" b="1" dirty="0" err="1"/>
              <a:t>statsmodels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analyse time series data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Filtering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Fourier</a:t>
            </a:r>
            <a:r>
              <a:rPr lang="nl-NL" b="1" dirty="0"/>
              <a:t> analysis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16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9"/>
    </mc:Choice>
    <mc:Fallback xmlns="">
      <p:transition spd="slow" advTm="45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3703CFC-7951-3882-603C-BE0F1CB9B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/>
              <a:t>The student </a:t>
            </a:r>
            <a:r>
              <a:rPr lang="nl-NL" err="1"/>
              <a:t>recognizes</a:t>
            </a:r>
            <a:r>
              <a:rPr lang="nl-NL"/>
              <a:t> time series data as a </a:t>
            </a:r>
            <a:r>
              <a:rPr lang="nl-NL" err="1"/>
              <a:t>distinct</a:t>
            </a:r>
            <a:r>
              <a:rPr lang="nl-NL"/>
              <a:t> type of data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knows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techniques</a:t>
            </a:r>
            <a:r>
              <a:rPr lang="nl-NL"/>
              <a:t> </a:t>
            </a:r>
            <a:r>
              <a:rPr lang="nl-NL" err="1"/>
              <a:t>for</a:t>
            </a:r>
            <a:r>
              <a:rPr lang="nl-NL"/>
              <a:t> making </a:t>
            </a:r>
            <a:r>
              <a:rPr lang="nl-NL" err="1"/>
              <a:t>predictions</a:t>
            </a:r>
            <a:r>
              <a:rPr lang="nl-NL"/>
              <a:t> </a:t>
            </a:r>
            <a:r>
              <a:rPr lang="nl-NL" err="1"/>
              <a:t>using</a:t>
            </a:r>
            <a:r>
              <a:rPr lang="nl-NL"/>
              <a:t> </a:t>
            </a:r>
            <a:r>
              <a:rPr lang="nl-NL" err="1"/>
              <a:t>this</a:t>
            </a:r>
            <a:r>
              <a:rPr lang="nl-NL"/>
              <a:t> type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err="1"/>
              <a:t>Relates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final</a:t>
            </a:r>
            <a:r>
              <a:rPr lang="nl-NL"/>
              <a:t> </a:t>
            </a:r>
            <a:r>
              <a:rPr lang="nl-NL" err="1"/>
              <a:t>qualification</a:t>
            </a:r>
            <a:r>
              <a:rPr lang="nl-NL"/>
              <a:t>: data </a:t>
            </a:r>
            <a:r>
              <a:rPr lang="nl-NL" err="1"/>
              <a:t>analytics</a:t>
            </a:r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38EFDC6-E6C4-AF55-4506-E3ED244A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Lesson</a:t>
            </a:r>
            <a:r>
              <a:rPr lang="nl-NL"/>
              <a:t> goals</a:t>
            </a:r>
          </a:p>
        </p:txBody>
      </p:sp>
    </p:spTree>
    <p:extLst>
      <p:ext uri="{BB962C8B-B14F-4D97-AF65-F5344CB8AC3E}">
        <p14:creationId xmlns:p14="http://schemas.microsoft.com/office/powerpoint/2010/main" val="38287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C948A0A-FFD8-420B-DDB5-8835A39BA5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/>
              <a:t>Read Géron </a:t>
            </a:r>
            <a:r>
              <a:rPr lang="nl-NL" err="1"/>
              <a:t>ch</a:t>
            </a:r>
            <a:r>
              <a:rPr lang="nl-NL"/>
              <a:t>. 15 </a:t>
            </a:r>
            <a:r>
              <a:rPr lang="nl-NL" err="1"/>
              <a:t>from</a:t>
            </a:r>
            <a:r>
              <a:rPr lang="nl-NL"/>
              <a:t> "</a:t>
            </a:r>
            <a:r>
              <a:rPr lang="nl-NL" err="1"/>
              <a:t>Forecasting</a:t>
            </a:r>
            <a:r>
              <a:rPr lang="nl-NL"/>
              <a:t> a time series" </a:t>
            </a:r>
            <a:r>
              <a:rPr lang="nl-NL" err="1"/>
              <a:t>until</a:t>
            </a:r>
            <a:r>
              <a:rPr lang="nl-NL"/>
              <a:t> but </a:t>
            </a:r>
            <a:r>
              <a:rPr lang="nl-NL" err="1"/>
              <a:t>not</a:t>
            </a:r>
            <a:r>
              <a:rPr lang="nl-NL"/>
              <a:t> </a:t>
            </a:r>
            <a:r>
              <a:rPr lang="nl-NL" err="1"/>
              <a:t>including</a:t>
            </a:r>
            <a:r>
              <a:rPr lang="nl-NL"/>
              <a:t> "Preparing </a:t>
            </a:r>
            <a:r>
              <a:rPr lang="nl-NL" err="1"/>
              <a:t>the</a:t>
            </a:r>
            <a:r>
              <a:rPr lang="nl-NL"/>
              <a:t> Data </a:t>
            </a:r>
            <a:r>
              <a:rPr lang="nl-NL" err="1"/>
              <a:t>for</a:t>
            </a:r>
            <a:r>
              <a:rPr lang="nl-NL"/>
              <a:t> Machine Learning </a:t>
            </a:r>
            <a:r>
              <a:rPr lang="nl-NL" err="1"/>
              <a:t>Models</a:t>
            </a:r>
            <a:r>
              <a:rPr lang="nl-NL"/>
              <a:t>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err="1"/>
              <a:t>What</a:t>
            </a:r>
            <a:r>
              <a:rPr lang="nl-NL"/>
              <a:t> </a:t>
            </a:r>
            <a:r>
              <a:rPr lang="nl-NL" err="1"/>
              <a:t>did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err="1"/>
              <a:t>learn</a:t>
            </a:r>
            <a:r>
              <a:rPr lang="nl-NL"/>
              <a:t> </a:t>
            </a:r>
            <a:r>
              <a:rPr lang="nl-NL" err="1"/>
              <a:t>from</a:t>
            </a:r>
            <a:r>
              <a:rPr lang="nl-NL"/>
              <a:t> </a:t>
            </a:r>
            <a:r>
              <a:rPr lang="nl-NL" err="1"/>
              <a:t>this</a:t>
            </a:r>
            <a:r>
              <a:rPr lang="nl-NL"/>
              <a:t>?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74DB50-198A-9E93-4FA7-BDEC09F5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Preparation</a:t>
            </a:r>
            <a:r>
              <a:rPr lang="nl-NL" dirty="0"/>
              <a:t> </a:t>
            </a:r>
            <a:r>
              <a:rPr lang="nl-NL" dirty="0" err="1"/>
              <a:t>recap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361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1D0C676-ED67-FDE3-9ED6-048E471BD9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 time series is a </a:t>
            </a:r>
            <a:r>
              <a:rPr lang="nl-NL" dirty="0" err="1"/>
              <a:t>sequence</a:t>
            </a:r>
            <a:r>
              <a:rPr lang="nl-NL" dirty="0"/>
              <a:t> of </a:t>
            </a:r>
            <a:r>
              <a:rPr lang="nl-NL" dirty="0" err="1"/>
              <a:t>observations</a:t>
            </a:r>
            <a:r>
              <a:rPr lang="nl-NL" dirty="0"/>
              <a:t> of </a:t>
            </a:r>
            <a:r>
              <a:rPr lang="nl-NL" dirty="0" err="1"/>
              <a:t>one</a:t>
            </a:r>
            <a:r>
              <a:rPr lang="nl-NL" dirty="0"/>
              <a:t> or more variables. These </a:t>
            </a:r>
            <a:r>
              <a:rPr lang="nl-NL" dirty="0" err="1"/>
              <a:t>observations</a:t>
            </a:r>
            <a:r>
              <a:rPr lang="nl-NL" dirty="0"/>
              <a:t> </a:t>
            </a:r>
            <a:r>
              <a:rPr lang="nl-NL" dirty="0" err="1"/>
              <a:t>occur</a:t>
            </a:r>
            <a:r>
              <a:rPr lang="nl-NL" dirty="0"/>
              <a:t> in </a:t>
            </a:r>
            <a:r>
              <a:rPr lang="nl-NL" dirty="0" err="1"/>
              <a:t>successive</a:t>
            </a:r>
            <a:r>
              <a:rPr lang="nl-NL" dirty="0"/>
              <a:t> order over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period</a:t>
            </a:r>
            <a:r>
              <a:rPr lang="nl-NL" dirty="0"/>
              <a:t> of time, </a:t>
            </a:r>
            <a:r>
              <a:rPr lang="nl-NL" dirty="0" err="1"/>
              <a:t>usually</a:t>
            </a:r>
            <a:r>
              <a:rPr lang="nl-NL" dirty="0"/>
              <a:t> (but </a:t>
            </a:r>
            <a:r>
              <a:rPr lang="nl-NL" dirty="0" err="1"/>
              <a:t>occasionally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) at </a:t>
            </a:r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intervals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</a:t>
            </a:r>
            <a:r>
              <a:rPr lang="nl-NL" dirty="0" err="1"/>
              <a:t>many</a:t>
            </a:r>
            <a:r>
              <a:rPr lang="nl-NL" dirty="0"/>
              <a:t> time series </a:t>
            </a:r>
            <a:r>
              <a:rPr lang="nl-NL" dirty="0" err="1"/>
              <a:t>observations</a:t>
            </a:r>
            <a:r>
              <a:rPr lang="nl-NL" dirty="0"/>
              <a:t> are </a:t>
            </a:r>
            <a:r>
              <a:rPr lang="nl-NL" dirty="0" err="1"/>
              <a:t>closely</a:t>
            </a:r>
            <a:r>
              <a:rPr lang="nl-NL" dirty="0"/>
              <a:t> </a:t>
            </a:r>
            <a:r>
              <a:rPr lang="nl-NL" dirty="0" err="1"/>
              <a:t>related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This</a:t>
            </a:r>
            <a:r>
              <a:rPr lang="nl-NL" dirty="0"/>
              <a:t> means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observation</a:t>
            </a:r>
            <a:r>
              <a:rPr lang="nl-NL" dirty="0"/>
              <a:t> made at </a:t>
            </a:r>
            <a:r>
              <a:rPr lang="nl-NL" dirty="0" err="1"/>
              <a:t>some</a:t>
            </a:r>
            <a:r>
              <a:rPr lang="nl-NL" dirty="0"/>
              <a:t> point in </a:t>
            </a:r>
            <a:r>
              <a:rPr lang="nl-NL" dirty="0" err="1"/>
              <a:t>the</a:t>
            </a:r>
            <a:r>
              <a:rPr lang="nl-NL" dirty="0"/>
              <a:t> past </a:t>
            </a:r>
            <a:r>
              <a:rPr lang="nl-NL" dirty="0" err="1"/>
              <a:t>can</a:t>
            </a:r>
            <a:r>
              <a:rPr lang="nl-NL" dirty="0"/>
              <a:t> help </a:t>
            </a:r>
            <a:r>
              <a:rPr lang="nl-NL" dirty="0" err="1"/>
              <a:t>predict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made at </a:t>
            </a:r>
            <a:r>
              <a:rPr lang="nl-NL" dirty="0" err="1"/>
              <a:t>some</a:t>
            </a:r>
            <a:r>
              <a:rPr lang="nl-NL" dirty="0"/>
              <a:t> later point in time: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The default </a:t>
            </a:r>
            <a:r>
              <a:rPr lang="nl-NL" dirty="0" err="1"/>
              <a:t>forecasting</a:t>
            </a:r>
            <a:r>
              <a:rPr lang="nl-NL" dirty="0"/>
              <a:t> </a:t>
            </a:r>
            <a:r>
              <a:rPr lang="nl-NL" dirty="0" err="1"/>
              <a:t>technique</a:t>
            </a:r>
            <a:r>
              <a:rPr lang="nl-NL" dirty="0"/>
              <a:t> is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simply</a:t>
            </a:r>
            <a:r>
              <a:rPr lang="nl-NL" dirty="0"/>
              <a:t> state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next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identical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last </a:t>
            </a:r>
            <a:r>
              <a:rPr lang="nl-NL" dirty="0" err="1"/>
              <a:t>observation</a:t>
            </a:r>
            <a:r>
              <a:rPr lang="nl-NL" dirty="0"/>
              <a:t>.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works</a:t>
            </a:r>
            <a:r>
              <a:rPr lang="nl-NL" dirty="0"/>
              <a:t> </a:t>
            </a:r>
            <a:r>
              <a:rPr lang="nl-NL" dirty="0" err="1"/>
              <a:t>surprisingly</a:t>
            </a:r>
            <a:r>
              <a:rPr lang="nl-NL" dirty="0"/>
              <a:t> well. Later on </a:t>
            </a:r>
            <a:r>
              <a:rPr lang="nl-NL" dirty="0" err="1"/>
              <a:t>during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lesson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learn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doesn't</a:t>
            </a:r>
            <a:r>
              <a:rPr lang="nl-NL" dirty="0"/>
              <a:t>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04534AA-3BBF-D700-F67F-C07A0909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Overview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767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E467AF0-81CB-3DED-4535-0E8ED2D8E1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1: naive forecast with example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9DF7BF-8E95-BFA8-4C15-92FB3E30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Naive forecast with example</a:t>
            </a:r>
          </a:p>
        </p:txBody>
      </p:sp>
    </p:spTree>
    <p:extLst>
      <p:ext uri="{BB962C8B-B14F-4D97-AF65-F5344CB8AC3E}">
        <p14:creationId xmlns:p14="http://schemas.microsoft.com/office/powerpoint/2010/main" val="87069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E472D597-E10A-D2B2-53C5-380B29329D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Apply some function to all previous observations or to a subset of previous observations (only the last 10 observations, for example):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: some error</a:t>
                </a:r>
              </a:p>
              <a:p>
                <a:pPr marL="728653" lvl="1" indent="-342900"/>
                <a:r>
                  <a:rPr lang="en-US" dirty="0"/>
                  <a:t>The forecast value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acc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nl-NL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This technique is called </a:t>
                </a:r>
                <a:r>
                  <a:rPr lang="en-US" b="1" dirty="0"/>
                  <a:t>ARMA</a:t>
                </a:r>
                <a:r>
                  <a:rPr lang="en-US" dirty="0"/>
                  <a:t>: </a:t>
                </a:r>
                <a:r>
                  <a:rPr lang="en-US" b="1" dirty="0"/>
                  <a:t>a</a:t>
                </a:r>
                <a:r>
                  <a:rPr lang="en-US" dirty="0"/>
                  <a:t>uto </a:t>
                </a:r>
                <a:r>
                  <a:rPr lang="en-US" b="1" dirty="0"/>
                  <a:t>r</a:t>
                </a:r>
                <a:r>
                  <a:rPr lang="en-US" dirty="0"/>
                  <a:t>egressive </a:t>
                </a:r>
                <a:r>
                  <a:rPr lang="en-US" b="1" dirty="0"/>
                  <a:t>m</a:t>
                </a:r>
                <a:r>
                  <a:rPr lang="en-US" dirty="0"/>
                  <a:t>oving </a:t>
                </a:r>
                <a:r>
                  <a:rPr lang="en-US" b="1" dirty="0"/>
                  <a:t>a</a:t>
                </a:r>
                <a:r>
                  <a:rPr lang="en-US" dirty="0"/>
                  <a:t>verage:</a:t>
                </a:r>
              </a:p>
              <a:p>
                <a:pPr marL="728653" lvl="1" indent="-342900"/>
                <a:r>
                  <a:rPr lang="en-US" dirty="0"/>
                  <a:t>AR: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r>
                  <a:rPr lang="nl-NL" dirty="0"/>
                  <a:t>MA: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r>
                  <a:rPr lang="nl-NL" dirty="0"/>
                  <a:t>ARMA combines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,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summing</a:t>
                </a:r>
                <a:r>
                  <a:rPr lang="nl-NL" dirty="0"/>
                  <a:t> </a:t>
                </a:r>
                <a:r>
                  <a:rPr lang="nl-NL" dirty="0" err="1"/>
                  <a:t>them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r>
                  <a:rPr lang="nl-NL" dirty="0" err="1"/>
                  <a:t>Autoregression</a:t>
                </a:r>
                <a:r>
                  <a:rPr lang="nl-NL" dirty="0"/>
                  <a:t>: </a:t>
                </a:r>
                <a:r>
                  <a:rPr lang="nl-NL" dirty="0" err="1"/>
                  <a:t>correlating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your</a:t>
                </a:r>
                <a:r>
                  <a:rPr lang="nl-NL" dirty="0"/>
                  <a:t> </a:t>
                </a:r>
                <a:r>
                  <a:rPr lang="nl-NL" dirty="0" err="1"/>
                  <a:t>own</a:t>
                </a:r>
                <a:r>
                  <a:rPr lang="nl-NL" dirty="0"/>
                  <a:t> </a:t>
                </a:r>
                <a:r>
                  <a:rPr lang="nl-NL" dirty="0" err="1"/>
                  <a:t>previous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.</a:t>
                </a:r>
              </a:p>
              <a:p>
                <a:pPr marL="728653" lvl="1" indent="-342900"/>
                <a:r>
                  <a:rPr lang="nl-NL" dirty="0" err="1"/>
                  <a:t>Moving</a:t>
                </a:r>
                <a:r>
                  <a:rPr lang="nl-NL" dirty="0"/>
                  <a:t> </a:t>
                </a:r>
                <a:r>
                  <a:rPr lang="nl-NL" dirty="0" err="1"/>
                  <a:t>average</a:t>
                </a:r>
                <a:r>
                  <a:rPr lang="nl-NL" dirty="0"/>
                  <a:t>: </a:t>
                </a:r>
                <a:r>
                  <a:rPr lang="nl-NL" dirty="0" err="1"/>
                  <a:t>calculate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</a:t>
                </a:r>
                <a:r>
                  <a:rPr lang="nl-NL" dirty="0" err="1"/>
                  <a:t>average</a:t>
                </a:r>
                <a:r>
                  <a:rPr lang="nl-NL" dirty="0"/>
                  <a:t> ov </a:t>
                </a:r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previous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</a:t>
                </a:r>
                <a:r>
                  <a:rPr lang="nl-NL" i="1" dirty="0" err="1"/>
                  <a:t>that</a:t>
                </a:r>
                <a:r>
                  <a:rPr lang="nl-NL" i="1" dirty="0"/>
                  <a:t> updates as more </a:t>
                </a:r>
                <a:r>
                  <a:rPr lang="nl-NL" i="1" dirty="0" err="1"/>
                  <a:t>values</a:t>
                </a:r>
                <a:r>
                  <a:rPr lang="nl-NL" i="1" dirty="0"/>
                  <a:t> </a:t>
                </a:r>
                <a:r>
                  <a:rPr lang="nl-NL" i="1"/>
                  <a:t>are added.</a:t>
                </a:r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endParaRPr lang="nl-NL" dirty="0"/>
              </a:p>
            </p:txBody>
          </p:sp>
        </mc:Choice>
        <mc:Fallback xmlns="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E472D597-E10A-D2B2-53C5-380B29329D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52C8E15F-840C-90E8-D40B-1DD31EF5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Slightly less naive forecasting: ARMA</a:t>
            </a:r>
          </a:p>
        </p:txBody>
      </p:sp>
    </p:spTree>
    <p:extLst>
      <p:ext uri="{BB962C8B-B14F-4D97-AF65-F5344CB8AC3E}">
        <p14:creationId xmlns:p14="http://schemas.microsoft.com/office/powerpoint/2010/main" val="948181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D59485A-5579-EA5F-8EA8-BB1FA35102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2: manual ARMA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3: manual ARMA, does not work</a:t>
            </a:r>
          </a:p>
          <a:p>
            <a:pPr marL="728653" lvl="1" indent="-342900"/>
            <a:r>
              <a:rPr lang="en-US" dirty="0"/>
              <a:t>Because ARMA assumes the time series is </a:t>
            </a:r>
            <a:r>
              <a:rPr lang="en-US" i="1" dirty="0"/>
              <a:t>stationary</a:t>
            </a:r>
            <a:r>
              <a:rPr lang="en-US" dirty="0"/>
              <a:t> (no </a:t>
            </a:r>
            <a:r>
              <a:rPr lang="en-US" i="1" dirty="0"/>
              <a:t>seasonality)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8AA1C9A-B63B-2EAE-D17F-C549D8C8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 and 3</a:t>
            </a:r>
          </a:p>
        </p:txBody>
      </p:sp>
    </p:spTree>
    <p:extLst>
      <p:ext uri="{BB962C8B-B14F-4D97-AF65-F5344CB8AC3E}">
        <p14:creationId xmlns:p14="http://schemas.microsoft.com/office/powerpoint/2010/main" val="54606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5D0A65A-FA49-DC91-0A51-B7FBFBE90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Differencing does not completely undo the effects of seasonality, but it does reduce its effects.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Differencing can also help remove underlying larger trends. In economics, for example, long term trends (continuous growth) are often less interesting than smaller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results can be sometimes be obtained by using a technique called Fourier analysis, but we will only touch upon this technique very briefly, at the end of this lecture.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46ABC05-566B-EAA0-97CD-4D5C2108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4: reducing seasonality using differencing</a:t>
            </a:r>
          </a:p>
        </p:txBody>
      </p:sp>
    </p:spTree>
    <p:extLst>
      <p:ext uri="{BB962C8B-B14F-4D97-AF65-F5344CB8AC3E}">
        <p14:creationId xmlns:p14="http://schemas.microsoft.com/office/powerpoint/2010/main" val="49454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CA1FE04-A1B1-43F8-93F4-B4838E3EB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possible to combine differencing and ARMA to make predictions: </a:t>
            </a:r>
            <a:r>
              <a:rPr lang="en-US" b="1" dirty="0"/>
              <a:t>ARIMA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you need to add seasonality: </a:t>
            </a:r>
            <a:r>
              <a:rPr lang="en-US" b="1" dirty="0"/>
              <a:t>SARIMA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F84C12-7C77-5A75-6852-936FA286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and SARIMA</a:t>
            </a:r>
          </a:p>
        </p:txBody>
      </p:sp>
    </p:spTree>
    <p:extLst>
      <p:ext uri="{BB962C8B-B14F-4D97-AF65-F5344CB8AC3E}">
        <p14:creationId xmlns:p14="http://schemas.microsoft.com/office/powerpoint/2010/main" val="187257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4B51073C-5BC3-C82F-A474-F23B9B3A958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MAE</a:t>
                </a:r>
                <a:r>
                  <a:rPr lang="en-US" dirty="0"/>
                  <a:t> (Mean Absolute Error): the mean of the absolute difference between predicted values and actual values:</a:t>
                </a:r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MAPE</a:t>
                </a:r>
                <a:r>
                  <a:rPr lang="en-US" dirty="0"/>
                  <a:t> (Mean Absolute Percentage Error): the mean of the </a:t>
                </a:r>
                <a:r>
                  <a:rPr lang="en-US" i="1" dirty="0"/>
                  <a:t>relative</a:t>
                </a:r>
                <a:r>
                  <a:rPr lang="en-US" dirty="0"/>
                  <a:t> differences (</a:t>
                </a:r>
                <a:r>
                  <a:rPr lang="en-US" dirty="0" err="1"/>
                  <a:t>ie</a:t>
                </a:r>
                <a:r>
                  <a:rPr lang="en-US" dirty="0"/>
                  <a:t> as a percentage) between the real values and the predicted values:</a:t>
                </a:r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𝑀𝐴𝑃𝐸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nary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lang="en-US" dirty="0"/>
              </a:p>
              <a:p>
                <a:pPr marL="728653" lvl="1" indent="-342900"/>
                <a:r>
                  <a:rPr lang="en-US" dirty="0"/>
                  <a:t>Note: you divide by the original value so there can not be any 0 values.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Occasionally </a:t>
                </a:r>
                <a:r>
                  <a:rPr lang="en-US" b="1" dirty="0"/>
                  <a:t>MSE</a:t>
                </a:r>
                <a:r>
                  <a:rPr lang="en-US" dirty="0"/>
                  <a:t> is used, </a:t>
                </a:r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some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predictions</a:t>
                </a:r>
                <a:r>
                  <a:rPr lang="nl-NL" dirty="0"/>
                  <a:t> are </a:t>
                </a:r>
                <a:r>
                  <a:rPr lang="nl-NL" dirty="0" err="1"/>
                  <a:t>very</a:t>
                </a:r>
                <a:r>
                  <a:rPr lang="nl-NL" dirty="0"/>
                  <a:t> far off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want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penalize</a:t>
                </a:r>
                <a:r>
                  <a:rPr lang="nl-NL" dirty="0"/>
                  <a:t> these </a:t>
                </a:r>
                <a:r>
                  <a:rPr lang="nl-NL" dirty="0" err="1"/>
                  <a:t>stronger</a:t>
                </a:r>
                <a:r>
                  <a:rPr lang="nl-NL" dirty="0"/>
                  <a:t> </a:t>
                </a:r>
                <a:r>
                  <a:rPr lang="nl-NL" dirty="0" err="1"/>
                  <a:t>than</a:t>
                </a:r>
                <a:r>
                  <a:rPr lang="nl-NL" dirty="0"/>
                  <a:t> </a:t>
                </a:r>
                <a:r>
                  <a:rPr lang="nl-NL" dirty="0" err="1"/>
                  <a:t>other</a:t>
                </a:r>
                <a:r>
                  <a:rPr lang="nl-NL" dirty="0"/>
                  <a:t> </a:t>
                </a:r>
                <a:r>
                  <a:rPr lang="nl-NL" dirty="0" err="1"/>
                  <a:t>predictions</a:t>
                </a:r>
                <a:r>
                  <a:rPr lang="nl-NL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4B51073C-5BC3-C82F-A474-F23B9B3A9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719F0179-3822-721C-2DD0-00EFA1B5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quality of a forecast</a:t>
            </a:r>
          </a:p>
        </p:txBody>
      </p:sp>
    </p:spTree>
    <p:extLst>
      <p:ext uri="{BB962C8B-B14F-4D97-AF65-F5344CB8AC3E}">
        <p14:creationId xmlns:p14="http://schemas.microsoft.com/office/powerpoint/2010/main" val="360451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B8AE7F5-00A8-7D6B-A4F6-34291C01FA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14315" indent="-342900">
              <a:buFont typeface="Arial" panose="020B0604020202020204" pitchFamily="34" charset="0"/>
              <a:buChar char="•"/>
            </a:pPr>
            <a:r>
              <a:rPr lang="nl-NL" dirty="0"/>
              <a:t>Demo 5: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show 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endParaRPr lang="nl-NL" dirty="0"/>
          </a:p>
          <a:p>
            <a:pPr marL="600068" lvl="1" indent="-342900"/>
            <a:r>
              <a:rPr lang="nl-NL" dirty="0"/>
              <a:t>Auto </a:t>
            </a:r>
            <a:r>
              <a:rPr lang="nl-NL" dirty="0" err="1"/>
              <a:t>correlation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plots help in data </a:t>
            </a:r>
            <a:r>
              <a:rPr lang="nl-NL" dirty="0" err="1"/>
              <a:t>exploration</a:t>
            </a:r>
            <a:r>
              <a:rPr lang="nl-NL" dirty="0"/>
              <a:t>: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show </a:t>
            </a:r>
            <a:r>
              <a:rPr lang="nl-NL" dirty="0" err="1"/>
              <a:t>you</a:t>
            </a:r>
            <a:r>
              <a:rPr lang="nl-NL" dirty="0"/>
              <a:t> 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help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decide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. </a:t>
            </a:r>
            <a:r>
              <a:rPr lang="nl-NL" dirty="0" err="1"/>
              <a:t>If</a:t>
            </a:r>
            <a:r>
              <a:rPr lang="nl-NL" dirty="0"/>
              <a:t> data </a:t>
            </a:r>
            <a:r>
              <a:rPr lang="nl-NL" dirty="0" err="1"/>
              <a:t>contains</a:t>
            </a:r>
            <a:r>
              <a:rPr lang="nl-NL" dirty="0"/>
              <a:t> no </a:t>
            </a:r>
            <a:r>
              <a:rPr lang="nl-NL" dirty="0" err="1"/>
              <a:t>seasonality</a:t>
            </a:r>
            <a:r>
              <a:rPr lang="nl-NL" dirty="0"/>
              <a:t> at </a:t>
            </a:r>
            <a:r>
              <a:rPr lang="nl-NL" dirty="0" err="1"/>
              <a:t>all</a:t>
            </a:r>
            <a:r>
              <a:rPr lang="nl-NL" dirty="0"/>
              <a:t>, ARMA is fine. </a:t>
            </a:r>
            <a:r>
              <a:rPr lang="nl-NL" dirty="0" err="1"/>
              <a:t>Otherwise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SARIMA or </a:t>
            </a:r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else</a:t>
            </a:r>
            <a:r>
              <a:rPr lang="nl-NL" dirty="0"/>
              <a:t>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help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decide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preprocess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show </a:t>
            </a:r>
            <a:r>
              <a:rPr lang="nl-NL" dirty="0" err="1"/>
              <a:t>anomalies</a:t>
            </a:r>
            <a:r>
              <a:rPr lang="nl-NL" dirty="0"/>
              <a:t> / </a:t>
            </a:r>
            <a:r>
              <a:rPr lang="nl-NL" dirty="0" err="1"/>
              <a:t>oddities</a:t>
            </a:r>
            <a:r>
              <a:rPr lang="nl-NL" dirty="0"/>
              <a:t>.</a:t>
            </a:r>
          </a:p>
          <a:p>
            <a:pPr marL="214315" indent="-342900">
              <a:buFont typeface="Arial" panose="020B0604020202020204" pitchFamily="34" charset="0"/>
              <a:buChar char="•"/>
            </a:pPr>
            <a:r>
              <a:rPr lang="nl-NL" dirty="0"/>
              <a:t>Demo 6: Using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decompose</a:t>
            </a:r>
            <a:r>
              <a:rPr lang="nl-NL" dirty="0"/>
              <a:t> a time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7: Using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analyse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decompose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</a:t>
            </a:r>
          </a:p>
          <a:p>
            <a:pPr marL="728653" lvl="1" indent="-342900"/>
            <a:r>
              <a:rPr lang="nl-NL" dirty="0"/>
              <a:t>Trend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r>
              <a:rPr lang="nl-NL" dirty="0"/>
              <a:t> analysis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autocorrelation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plots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foolproof</a:t>
            </a:r>
            <a:r>
              <a:rPr lang="nl-NL" dirty="0"/>
              <a:t>. </a:t>
            </a:r>
            <a:r>
              <a:rPr lang="nl-NL" dirty="0" err="1"/>
              <a:t>Here</a:t>
            </a:r>
            <a:r>
              <a:rPr lang="nl-NL" dirty="0"/>
              <a:t> is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infamous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.</a:t>
            </a:r>
          </a:p>
          <a:p>
            <a:pPr marL="728653" lvl="1" indent="-342900"/>
            <a:r>
              <a:rPr lang="nl-NL" dirty="0" err="1"/>
              <a:t>Sunspot</a:t>
            </a:r>
            <a:r>
              <a:rPr lang="nl-NL" dirty="0"/>
              <a:t> data analysis is </a:t>
            </a:r>
            <a:r>
              <a:rPr lang="nl-NL" dirty="0" err="1"/>
              <a:t>an</a:t>
            </a:r>
            <a:r>
              <a:rPr lang="nl-NL" dirty="0"/>
              <a:t> excellent </a:t>
            </a:r>
            <a:r>
              <a:rPr lang="nl-NL" dirty="0" err="1"/>
              <a:t>example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shortcomings</a:t>
            </a:r>
            <a:r>
              <a:rPr lang="nl-NL" dirty="0"/>
              <a:t> of TS analysis:</a:t>
            </a:r>
          </a:p>
          <a:p>
            <a:pPr marL="985821" lvl="2" indent="-342900"/>
            <a:r>
              <a:rPr lang="nl-NL" dirty="0"/>
              <a:t>The performance of a </a:t>
            </a:r>
            <a:r>
              <a:rPr lang="nl-NL" dirty="0" err="1"/>
              <a:t>simple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the</a:t>
            </a:r>
            <a:r>
              <a:rPr lang="nl-NL" dirty="0"/>
              <a:t> 11 </a:t>
            </a:r>
            <a:r>
              <a:rPr lang="nl-NL" dirty="0" err="1"/>
              <a:t>year</a:t>
            </a:r>
            <a:r>
              <a:rPr lang="nl-NL" dirty="0"/>
              <a:t> sinus </a:t>
            </a:r>
            <a:r>
              <a:rPr lang="nl-NL" dirty="0" err="1"/>
              <a:t>cycle</a:t>
            </a:r>
            <a:r>
              <a:rPr lang="nl-NL" dirty="0"/>
              <a:t>)  is </a:t>
            </a:r>
            <a:r>
              <a:rPr lang="nl-NL" dirty="0" err="1"/>
              <a:t>certainly</a:t>
            </a:r>
            <a:r>
              <a:rPr lang="nl-NL" dirty="0"/>
              <a:t> no </a:t>
            </a:r>
            <a:r>
              <a:rPr lang="nl-NL" dirty="0" err="1"/>
              <a:t>worse</a:t>
            </a:r>
            <a:r>
              <a:rPr lang="nl-NL" dirty="0"/>
              <a:t>.</a:t>
            </a:r>
          </a:p>
          <a:p>
            <a:pPr marL="985821" lvl="2" indent="-342900"/>
            <a:r>
              <a:rPr lang="nl-NL" dirty="0"/>
              <a:t>The </a:t>
            </a:r>
            <a:r>
              <a:rPr lang="nl-NL" dirty="0" err="1"/>
              <a:t>explanatory</a:t>
            </a:r>
            <a:r>
              <a:rPr lang="nl-NL" dirty="0"/>
              <a:t> power of a </a:t>
            </a:r>
            <a:r>
              <a:rPr lang="nl-NL" dirty="0" err="1"/>
              <a:t>simple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the</a:t>
            </a:r>
            <a:r>
              <a:rPr lang="nl-NL" dirty="0"/>
              <a:t> 11 </a:t>
            </a:r>
            <a:r>
              <a:rPr lang="nl-NL" dirty="0" err="1"/>
              <a:t>year</a:t>
            </a:r>
            <a:r>
              <a:rPr lang="nl-NL" dirty="0"/>
              <a:t> sinus </a:t>
            </a:r>
            <a:r>
              <a:rPr lang="nl-NL" dirty="0" err="1"/>
              <a:t>cycle</a:t>
            </a:r>
            <a:r>
              <a:rPr lang="nl-NL"/>
              <a:t>) is </a:t>
            </a:r>
            <a:r>
              <a:rPr lang="nl-NL" dirty="0" err="1"/>
              <a:t>much</a:t>
            </a:r>
            <a:r>
              <a:rPr lang="nl-NL" dirty="0"/>
              <a:t> </a:t>
            </a:r>
            <a:r>
              <a:rPr lang="nl-NL" dirty="0" err="1"/>
              <a:t>greater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6077C87-3356-4DD9-DA46-D3B4407A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Demos: </a:t>
            </a:r>
            <a:r>
              <a:rPr lang="en-US" dirty="0" err="1"/>
              <a:t>statsmodels.tsa</a:t>
            </a:r>
            <a:r>
              <a:rPr lang="en-US" dirty="0"/>
              <a:t> and </a:t>
            </a:r>
            <a:r>
              <a:rPr lang="en-US" dirty="0" err="1"/>
              <a:t>statsmodels.graphics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6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64F1AEF-E8B1-724E-214F-70F68A7F6C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Most of </a:t>
            </a:r>
            <a:r>
              <a:rPr lang="nl-NL" dirty="0" err="1"/>
              <a:t>our</a:t>
            </a:r>
            <a:r>
              <a:rPr lang="nl-NL" dirty="0"/>
              <a:t> data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somewhere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synthetic</a:t>
            </a:r>
            <a:r>
              <a:rPr lang="nl-NL" dirty="0"/>
              <a:t> data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demos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 in </a:t>
            </a:r>
            <a:r>
              <a:rPr lang="nl-NL" dirty="0" err="1"/>
              <a:t>terms</a:t>
            </a:r>
            <a:r>
              <a:rPr lang="nl-NL" dirty="0"/>
              <a:t> of </a:t>
            </a:r>
            <a:r>
              <a:rPr lang="nl-NL" dirty="0" err="1"/>
              <a:t>complexity</a:t>
            </a:r>
            <a:r>
              <a:rPr lang="nl-NL" dirty="0"/>
              <a:t>. The tools in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therefore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well - or at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reasonably</a:t>
            </a:r>
            <a:r>
              <a:rPr lang="nl-NL" dirty="0"/>
              <a:t>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data is </a:t>
            </a:r>
            <a:r>
              <a:rPr lang="nl-NL" dirty="0" err="1"/>
              <a:t>noisy</a:t>
            </a:r>
            <a:r>
              <a:rPr lang="nl-NL" dirty="0"/>
              <a:t>, </a:t>
            </a:r>
            <a:r>
              <a:rPr lang="nl-NL" dirty="0" err="1"/>
              <a:t>however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apply</a:t>
            </a:r>
            <a:r>
              <a:rPr lang="nl-NL" dirty="0"/>
              <a:t> filters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data.</a:t>
            </a:r>
          </a:p>
          <a:p>
            <a:pPr lvl="1"/>
            <a:r>
              <a:rPr lang="nl-NL" dirty="0"/>
              <a:t>A filter </a:t>
            </a:r>
            <a:r>
              <a:rPr lang="nl-NL" dirty="0" err="1"/>
              <a:t>smoothes</a:t>
            </a:r>
            <a:r>
              <a:rPr lang="nl-NL" dirty="0"/>
              <a:t> out small </a:t>
            </a:r>
            <a:r>
              <a:rPr lang="nl-NL" dirty="0" err="1"/>
              <a:t>variations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lvl="1"/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think</a:t>
            </a:r>
            <a:r>
              <a:rPr lang="nl-NL" dirty="0"/>
              <a:t> of </a:t>
            </a:r>
            <a:r>
              <a:rPr lang="nl-NL" dirty="0" err="1"/>
              <a:t>them</a:t>
            </a:r>
            <a:r>
              <a:rPr lang="nl-NL" dirty="0"/>
              <a:t> in </a:t>
            </a:r>
            <a:r>
              <a:rPr lang="nl-NL" dirty="0" err="1"/>
              <a:t>terms</a:t>
            </a:r>
            <a:r>
              <a:rPr lang="nl-NL" dirty="0"/>
              <a:t> of audio data. Small </a:t>
            </a:r>
            <a:r>
              <a:rPr lang="nl-NL" dirty="0" err="1"/>
              <a:t>variations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considered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high </a:t>
            </a:r>
            <a:r>
              <a:rPr lang="nl-NL" dirty="0" err="1"/>
              <a:t>frequency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(</a:t>
            </a:r>
            <a:r>
              <a:rPr lang="nl-NL" dirty="0" err="1"/>
              <a:t>hiss</a:t>
            </a:r>
            <a:r>
              <a:rPr lang="nl-NL" dirty="0"/>
              <a:t>). An audio filter (like </a:t>
            </a:r>
            <a:r>
              <a:rPr lang="nl-NL" dirty="0" err="1"/>
              <a:t>an</a:t>
            </a:r>
            <a:r>
              <a:rPr lang="nl-NL" dirty="0"/>
              <a:t> equalizer)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high </a:t>
            </a:r>
            <a:r>
              <a:rPr lang="nl-NL" dirty="0" err="1"/>
              <a:t>frequencies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fact</a:t>
            </a:r>
            <a:r>
              <a:rPr lang="nl-NL" dirty="0"/>
              <a:t>, </a:t>
            </a:r>
            <a:r>
              <a:rPr lang="nl-NL" dirty="0" err="1"/>
              <a:t>one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filters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demos</a:t>
            </a:r>
            <a:r>
              <a:rPr lang="nl-NL" dirty="0"/>
              <a:t> is </a:t>
            </a:r>
            <a:r>
              <a:rPr lang="nl-NL" dirty="0" err="1"/>
              <a:t>used</a:t>
            </a:r>
            <a:r>
              <a:rPr lang="nl-NL" dirty="0"/>
              <a:t> in audio </a:t>
            </a:r>
            <a:r>
              <a:rPr lang="nl-NL" dirty="0" err="1"/>
              <a:t>applications</a:t>
            </a:r>
            <a:r>
              <a:rPr lang="nl-NL" dirty="0"/>
              <a:t>! (synthesizers).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448FD9-DBFF-6E1A-BB1F-D87573BD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noise</a:t>
            </a:r>
          </a:p>
        </p:txBody>
      </p:sp>
    </p:spTree>
    <p:extLst>
      <p:ext uri="{BB962C8B-B14F-4D97-AF65-F5344CB8AC3E}">
        <p14:creationId xmlns:p14="http://schemas.microsoft.com/office/powerpoint/2010/main" val="236793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FA915BE-42BE-AB85-7D2F-27E85182F6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8: </a:t>
            </a:r>
            <a:r>
              <a:rPr lang="nl-NL" dirty="0" err="1"/>
              <a:t>smoothing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filters</a:t>
            </a:r>
          </a:p>
          <a:p>
            <a:pPr lvl="1"/>
            <a:r>
              <a:rPr lang="nl-NL" dirty="0"/>
              <a:t>For </a:t>
            </a:r>
            <a:r>
              <a:rPr lang="nl-NL" dirty="0" err="1"/>
              <a:t>synthetic</a:t>
            </a:r>
            <a:r>
              <a:rPr lang="nl-NL" dirty="0"/>
              <a:t> data, filters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well -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is </a:t>
            </a:r>
            <a:r>
              <a:rPr lang="nl-NL" dirty="0" err="1"/>
              <a:t>likely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 </a:t>
            </a:r>
            <a:r>
              <a:rPr lang="nl-NL" dirty="0" err="1"/>
              <a:t>noise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For real data,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in </a:t>
            </a:r>
            <a:r>
              <a:rPr lang="nl-NL" dirty="0" err="1"/>
              <a:t>fact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even </a:t>
            </a:r>
            <a:r>
              <a:rPr lang="nl-NL" dirty="0" err="1"/>
              <a:t>contain</a:t>
            </a:r>
            <a:r>
              <a:rPr lang="nl-NL" dirty="0"/>
              <a:t> </a:t>
            </a:r>
            <a:r>
              <a:rPr lang="nl-NL" dirty="0" err="1"/>
              <a:t>additional</a:t>
            </a:r>
            <a:r>
              <a:rPr lang="nl-NL" dirty="0"/>
              <a:t>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9: </a:t>
            </a:r>
            <a:r>
              <a:rPr lang="nl-NL" dirty="0" err="1"/>
              <a:t>smoothing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filters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701493-6142-3672-E87B-2832463C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demos</a:t>
            </a:r>
          </a:p>
        </p:txBody>
      </p:sp>
    </p:spTree>
    <p:extLst>
      <p:ext uri="{BB962C8B-B14F-4D97-AF65-F5344CB8AC3E}">
        <p14:creationId xmlns:p14="http://schemas.microsoft.com/office/powerpoint/2010/main" val="136392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8167C692-12F7-0D7C-99B5-14D840ADE5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925638"/>
            <a:ext cx="4087729" cy="42592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Approximate a signal by adding sine waves together.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be much better than “trend + seasonality” time series.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Computationally expensive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Risk of overfitting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you must use Fourier analysis:</a:t>
            </a:r>
          </a:p>
          <a:p>
            <a:pPr marL="728653" lvl="1" indent="-342900"/>
            <a:r>
              <a:rPr lang="en-US" dirty="0"/>
              <a:t>Filter beforehand (why?).</a:t>
            </a:r>
          </a:p>
          <a:p>
            <a:pPr marL="728653" lvl="1" indent="-342900"/>
            <a:r>
              <a:rPr lang="en-US" dirty="0"/>
              <a:t>Provide a large test set to check if you’re overfitting.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E993865-A96A-09B2-FF04-87BA7B3F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Analysis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FA4A541-F0C6-5BEE-1E71-420F53238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968" y="1690692"/>
            <a:ext cx="3704055" cy="3755398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12542EB8-EE52-804C-6131-90427A4690B7}"/>
              </a:ext>
            </a:extLst>
          </p:cNvPr>
          <p:cNvSpPr txBox="1"/>
          <p:nvPr/>
        </p:nvSpPr>
        <p:spPr>
          <a:xfrm>
            <a:off x="2768264" y="5600306"/>
            <a:ext cx="5747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/>
              <a:t>Image source: </a:t>
            </a:r>
            <a:br>
              <a:rPr lang="en-US" sz="1000" dirty="0"/>
            </a:br>
            <a:r>
              <a:rPr lang="en-US" sz="1000" dirty="0"/>
              <a:t>https://</a:t>
            </a:r>
            <a:r>
              <a:rPr lang="en-US" sz="1000" dirty="0" err="1"/>
              <a:t>sites.northwestern.edu</a:t>
            </a:r>
            <a:r>
              <a:rPr lang="en-US" sz="1000" dirty="0"/>
              <a:t>/</a:t>
            </a:r>
            <a:r>
              <a:rPr lang="en-US" sz="1000" dirty="0" err="1"/>
              <a:t>elannesscohn</a:t>
            </a:r>
            <a:r>
              <a:rPr lang="en-US" sz="1000" dirty="0"/>
              <a:t>/2019/07/30/developing-an-intuition-for-</a:t>
            </a:r>
            <a:r>
              <a:rPr lang="en-US" sz="1000" dirty="0" err="1"/>
              <a:t>fourier</a:t>
            </a:r>
            <a:r>
              <a:rPr lang="en-US" sz="1000" dirty="0"/>
              <a:t>-transforms/</a:t>
            </a:r>
          </a:p>
        </p:txBody>
      </p:sp>
    </p:spTree>
    <p:extLst>
      <p:ext uri="{BB962C8B-B14F-4D97-AF65-F5344CB8AC3E}">
        <p14:creationId xmlns:p14="http://schemas.microsoft.com/office/powerpoint/2010/main" val="81316263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2" id="{671DDF35-ECA7-4E3D-A33C-C8E03735DADE}" vid="{F5E29221-10C5-49DB-87C4-0557C1D5A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C6846675690041B0AEF76721A33550" ma:contentTypeVersion="12" ma:contentTypeDescription="Een nieuw document maken." ma:contentTypeScope="" ma:versionID="7d80b5b27cb88b7e670b1fbb7cd7de23">
  <xsd:schema xmlns:xsd="http://www.w3.org/2001/XMLSchema" xmlns:xs="http://www.w3.org/2001/XMLSchema" xmlns:p="http://schemas.microsoft.com/office/2006/metadata/properties" xmlns:ns2="6b01692f-8f45-4310-abfd-accd438f234f" xmlns:ns3="41d33a03-4c74-4b4d-8466-39dbc86d9cdb" targetNamespace="http://schemas.microsoft.com/office/2006/metadata/properties" ma:root="true" ma:fieldsID="2679454ac823c4dc22358f51a5683c7b" ns2:_="" ns3:_="">
    <xsd:import namespace="6b01692f-8f45-4310-abfd-accd438f234f"/>
    <xsd:import namespace="41d33a03-4c74-4b4d-8466-39dbc86d9c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692f-8f45-4310-abfd-accd438f2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33a03-4c74-4b4d-8466-39dbc86d9cd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E5A48691-3E40-4B9C-9CEF-B13064CE8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01692f-8f45-4310-abfd-accd438f234f"/>
    <ds:schemaRef ds:uri="41d33a03-4c74-4b4d-8466-39dbc86d9c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540D17-DFE7-4DA1-AB7C-9204237EF0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5827D5-5A12-48FB-BA20-1E7CB9BA5BA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67c6fd78-9e9e-49b0-99f6-392b7eb0c25b"/>
    <ds:schemaRef ds:uri="http://purl.org/dc/terms/"/>
    <ds:schemaRef ds:uri="http://schemas.microsoft.com/office/infopath/2007/PartnerControls"/>
    <ds:schemaRef ds:uri="53aadeef-871c-4d8b-955c-28f1a159024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4757</TotalTime>
  <Words>1054</Words>
  <Application>Microsoft Macintosh PowerPoint</Application>
  <PresentationFormat>Diavoorstelling (4:3)</PresentationFormat>
  <Paragraphs>92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Arial</vt:lpstr>
      <vt:lpstr>Avenir Next Condensed</vt:lpstr>
      <vt:lpstr>Calibri</vt:lpstr>
      <vt:lpstr>Cambria Math</vt:lpstr>
      <vt:lpstr>Presentatie_Smal</vt:lpstr>
      <vt:lpstr>PowerPoint-presentatie</vt:lpstr>
      <vt:lpstr>Lecture overview</vt:lpstr>
      <vt:lpstr>Lesson goals</vt:lpstr>
      <vt:lpstr>Preparation recap</vt:lpstr>
      <vt:lpstr>Time Series Overview</vt:lpstr>
      <vt:lpstr>Demo 1: Naive forecast with example</vt:lpstr>
      <vt:lpstr>Slightly less naive forecasting: ARMA</vt:lpstr>
      <vt:lpstr>Demo 2 and 3</vt:lpstr>
      <vt:lpstr>Demo 4: reducing seasonality using differencing</vt:lpstr>
      <vt:lpstr>ARIMA and SARIMA</vt:lpstr>
      <vt:lpstr>Measuring the quality of a forecast</vt:lpstr>
      <vt:lpstr>Demos: statsmodels.tsa and statsmodels.graphics</vt:lpstr>
      <vt:lpstr>Removing noise</vt:lpstr>
      <vt:lpstr>Filtering demos</vt:lpstr>
      <vt:lpstr>Fourier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Matthijs de Jonge</cp:lastModifiedBy>
  <cp:revision>189</cp:revision>
  <dcterms:created xsi:type="dcterms:W3CDTF">2015-07-08T04:47:01Z</dcterms:created>
  <dcterms:modified xsi:type="dcterms:W3CDTF">2026-09-21T07:26:46Z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0x010100B2C6846675690041B0AEF76721A33550</vt:lpwstr>
  </property>
</Properties>
</file>